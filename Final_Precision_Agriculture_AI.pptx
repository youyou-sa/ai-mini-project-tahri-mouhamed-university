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362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890016"/>
            <a:ext cx="6217920" cy="3456432"/>
          </a:xfrm>
          <a:prstGeom prst="rect">
            <a:avLst/>
          </a:prstGeom>
          <a:solidFill>
            <a:srgbClr val="FFFFFF">
              <a:alpha val="5000"/>
            </a:srgbClr>
          </a:solidFill>
          <a:ln w="10160">
            <a:solidFill>
              <a:srgbClr val="1F6F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96926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TECHNIQUES AND TOOLS  —  MINI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37744" y="1243584"/>
            <a:ext cx="603504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Resource Allocation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Precision Agriculture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37744" y="2615184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Multi-Output Regression: Predicting Water, Nitrogen &amp; Phosphorus Allocation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7744" y="3017520"/>
            <a:ext cx="4114800" cy="0"/>
          </a:xfrm>
          <a:prstGeom prst="line">
            <a:avLst/>
          </a:prstGeom>
          <a:noFill/>
          <a:ln w="12700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" y="3163824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r>
              <a:rPr lang="en-US" sz="950" dirty="0">
                <a:solidFill>
                  <a:srgbClr val="9E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Agriculture  |  </a:t>
            </a:r>
            <a:r>
              <a:rPr lang="en-US" sz="9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</a:t>
            </a:r>
            <a:r>
              <a:rPr lang="en-US" sz="950" dirty="0" smtClean="0">
                <a:solidFill>
                  <a:srgbClr val="9E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TAHRI</a:t>
            </a:r>
            <a:r>
              <a:rPr lang="en-US" sz="950" dirty="0" smtClean="0">
                <a:solidFill>
                  <a:srgbClr val="9E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Mohamed university of </a:t>
            </a:r>
            <a:r>
              <a:rPr lang="en-US" sz="950" dirty="0" err="1" smtClean="0">
                <a:solidFill>
                  <a:srgbClr val="9E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Bechar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656832" y="768096"/>
            <a:ext cx="2322576" cy="3566160"/>
          </a:xfrm>
          <a:prstGeom prst="rect">
            <a:avLst/>
          </a:prstGeom>
          <a:solidFill>
            <a:srgbClr val="0D2137"/>
          </a:solidFill>
          <a:ln w="10160">
            <a:solidFill>
              <a:srgbClr val="1F6FA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0" y="859536"/>
            <a:ext cx="2103120" cy="7315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859536"/>
            <a:ext cx="210312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89611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2 040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766560" y="1316736"/>
            <a:ext cx="210312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samples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766560" y="1700784"/>
            <a:ext cx="2103120" cy="7315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1700784"/>
            <a:ext cx="210312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173736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1 989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766560" y="2157984"/>
            <a:ext cx="210312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samples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66560" y="2542032"/>
            <a:ext cx="2103120" cy="7315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0" y="2542032"/>
            <a:ext cx="210312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25786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766560" y="2999232"/>
            <a:ext cx="210312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66560" y="3383280"/>
            <a:ext cx="2103120" cy="7315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3383280"/>
            <a:ext cx="210312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341985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766560" y="3840480"/>
            <a:ext cx="210312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targets</a:t>
            </a:r>
            <a:endParaRPr lang="en-US" sz="950" dirty="0"/>
          </a:p>
        </p:txBody>
      </p:sp>
      <p:sp>
        <p:nvSpPr>
          <p:cNvPr id="26" name="Text 6"/>
          <p:cNvSpPr/>
          <p:nvPr/>
        </p:nvSpPr>
        <p:spPr>
          <a:xfrm>
            <a:off x="1431544" y="3688842"/>
            <a:ext cx="6035040" cy="357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Doctoral students' names</a:t>
            </a:r>
            <a:r>
              <a:rPr lang="en-US" sz="950" b="1" dirty="0" smtClean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                      </a:t>
            </a:r>
            <a:r>
              <a:rPr lang="en-US" sz="950" b="1" dirty="0" err="1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Speciality</a:t>
            </a:r>
            <a:r>
              <a:rPr lang="en-US" sz="9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950" b="1" dirty="0" smtClean="0">
              <a:solidFill>
                <a:srgbClr val="F39C1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950" dirty="0" smtClean="0">
                <a:solidFill>
                  <a:srgbClr val="9E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BENAMRANI   </a:t>
            </a:r>
            <a:r>
              <a:rPr lang="en-US" sz="950" dirty="0" err="1" smtClean="0">
                <a:solidFill>
                  <a:srgbClr val="9E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M'Hammed</a:t>
            </a:r>
            <a:r>
              <a:rPr lang="en-US" sz="950" dirty="0" smtClean="0">
                <a:solidFill>
                  <a:srgbClr val="9E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</a:t>
            </a:r>
            <a:r>
              <a:rPr lang="en-US" sz="950" dirty="0" err="1" smtClean="0">
                <a:solidFill>
                  <a:srgbClr val="9E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Hydraulique</a:t>
            </a:r>
            <a:endParaRPr lang="en-US" sz="950" dirty="0" smtClean="0">
              <a:solidFill>
                <a:srgbClr val="9EC9E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950" dirty="0" smtClean="0">
                <a:solidFill>
                  <a:srgbClr val="9E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LAOUAR          </a:t>
            </a:r>
            <a:r>
              <a:rPr lang="en-US" sz="950" dirty="0" err="1">
                <a:solidFill>
                  <a:srgbClr val="9E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Mahdouda</a:t>
            </a:r>
            <a:r>
              <a:rPr lang="en-US" sz="950" dirty="0">
                <a:solidFill>
                  <a:srgbClr val="9E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smtClean="0">
                <a:solidFill>
                  <a:srgbClr val="9E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</a:t>
            </a:r>
            <a:r>
              <a:rPr lang="en-US" sz="950" dirty="0" err="1" smtClean="0">
                <a:solidFill>
                  <a:srgbClr val="9E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Hydraulique</a:t>
            </a:r>
            <a:endParaRPr lang="en-US" sz="950" dirty="0"/>
          </a:p>
          <a:p>
            <a:r>
              <a:rPr lang="en-US" sz="950" dirty="0" smtClean="0">
                <a:solidFill>
                  <a:srgbClr val="9E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BELGHANAMI </a:t>
            </a:r>
            <a:r>
              <a:rPr lang="en-US" sz="950" dirty="0">
                <a:solidFill>
                  <a:srgbClr val="9E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 </a:t>
            </a:r>
            <a:r>
              <a:rPr lang="en-US" sz="950" dirty="0" smtClean="0">
                <a:solidFill>
                  <a:srgbClr val="9E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</a:t>
            </a:r>
            <a:r>
              <a:rPr lang="en-US" sz="950" b="1" dirty="0" smtClean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</a:t>
            </a:r>
            <a:r>
              <a:rPr lang="en-US" sz="950" dirty="0" err="1" smtClean="0">
                <a:solidFill>
                  <a:srgbClr val="9E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</a:t>
            </a:r>
            <a:endParaRPr lang="en-US" sz="950" dirty="0" smtClean="0">
              <a:solidFill>
                <a:srgbClr val="9EC9E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950" dirty="0" smtClean="0">
                <a:solidFill>
                  <a:srgbClr val="9E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BENDJERAD    Mohammed       </a:t>
            </a:r>
            <a:r>
              <a:rPr lang="en-US" sz="950" b="1" dirty="0" smtClean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</a:t>
            </a:r>
            <a:r>
              <a:rPr lang="en-US" sz="950" dirty="0" err="1" smtClean="0">
                <a:solidFill>
                  <a:srgbClr val="9E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</a:t>
            </a:r>
            <a:endParaRPr lang="en-US" sz="950" dirty="0" smtClean="0">
              <a:solidFill>
                <a:srgbClr val="9EC9E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950" dirty="0" smtClean="0">
                <a:solidFill>
                  <a:srgbClr val="9E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SAFI                  </a:t>
            </a:r>
            <a:r>
              <a:rPr lang="en-US" sz="950" dirty="0" err="1" smtClean="0">
                <a:solidFill>
                  <a:srgbClr val="9E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Younes</a:t>
            </a:r>
            <a:r>
              <a:rPr lang="en-US" sz="950" dirty="0" smtClean="0">
                <a:solidFill>
                  <a:srgbClr val="9E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</a:t>
            </a:r>
            <a:r>
              <a:rPr lang="en-US" sz="950" b="1" dirty="0" smtClean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950" dirty="0" err="1" smtClean="0">
                <a:solidFill>
                  <a:srgbClr val="9E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2560320" cy="256032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7498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416966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115568"/>
            <a:ext cx="347472" cy="62179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115568"/>
            <a:ext cx="3474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6656" y="1170432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6656" y="1426464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objectives, task definition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17136" y="1115568"/>
            <a:ext cx="416966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17136" y="1115568"/>
            <a:ext cx="347472" cy="62179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17136" y="1115568"/>
            <a:ext cx="3474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170432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Generation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1426464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+ Generative AI datasets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" y="1828800"/>
            <a:ext cx="416966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1828800"/>
            <a:ext cx="347472" cy="62179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1828800"/>
            <a:ext cx="3474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6656" y="1883664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" y="2139696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encoding, scaling pipeline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17136" y="1828800"/>
            <a:ext cx="416966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17136" y="1828800"/>
            <a:ext cx="347472" cy="62179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17136" y="1828800"/>
            <a:ext cx="3474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1883664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2139696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PCA, LDA, feature selection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6032" y="2542032"/>
            <a:ext cx="416966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2542032"/>
            <a:ext cx="347472" cy="62179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2542032"/>
            <a:ext cx="3474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6656" y="2596896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Splitting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6656" y="2852928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 + K-Fold CV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17136" y="2542032"/>
            <a:ext cx="416966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17136" y="2542032"/>
            <a:ext cx="347472" cy="62179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17136" y="2542032"/>
            <a:ext cx="3474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37760" y="2596896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Selection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37760" y="2852928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RandomForest, SVR, MLP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56032" y="3255264"/>
            <a:ext cx="416966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56032" y="3255264"/>
            <a:ext cx="347472" cy="62179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6032" y="3255264"/>
            <a:ext cx="3474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76656" y="3310128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Evaluation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6656" y="3566160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metrics, graphical analysis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17136" y="3255264"/>
            <a:ext cx="416966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17136" y="3255264"/>
            <a:ext cx="347472" cy="62179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17136" y="3255264"/>
            <a:ext cx="3474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937760" y="3310128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Analysis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937760" y="3566160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Per-target breakdown &amp; discussion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56032" y="3968496"/>
            <a:ext cx="416966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56032" y="3968496"/>
            <a:ext cx="347472" cy="62179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6032" y="3968496"/>
            <a:ext cx="3474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76656" y="4023360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Enhancement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76656" y="4279392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hyperparameter tuning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17136" y="3968496"/>
            <a:ext cx="416966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517136" y="3968496"/>
            <a:ext cx="347472" cy="62179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17136" y="3968496"/>
            <a:ext cx="3474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4937760" y="4023360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Proposal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937760" y="4279392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context &amp; conclusion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2560320" cy="256032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7498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5138928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115568"/>
            <a:ext cx="5138928" cy="329184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115568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Agricultural Resource Challenge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636776"/>
            <a:ext cx="566928" cy="365760"/>
          </a:xfrm>
          <a:prstGeom prst="rect">
            <a:avLst/>
          </a:prstGeom>
          <a:solidFill>
            <a:srgbClr val="EBF5FB"/>
          </a:solidFill>
          <a:ln w="6350">
            <a:solidFill>
              <a:srgbClr val="1F6F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3677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05840" y="1655064"/>
            <a:ext cx="4261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freshwater consumed by agriculture, much over-applied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566928" cy="365760"/>
          </a:xfrm>
          <a:prstGeom prst="rect">
            <a:avLst/>
          </a:prstGeom>
          <a:solidFill>
            <a:srgbClr val="EBF5FB"/>
          </a:solidFill>
          <a:ln w="6350">
            <a:solidFill>
              <a:srgbClr val="1F6F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33172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Multi-variable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05840" y="2350008"/>
            <a:ext cx="4261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soil, crop, climate &amp; stage interact in a complex non-linear space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026664"/>
            <a:ext cx="566928" cy="365760"/>
          </a:xfrm>
          <a:prstGeom prst="rect">
            <a:avLst/>
          </a:prstGeom>
          <a:solidFill>
            <a:srgbClr val="EBF5FB"/>
          </a:solidFill>
          <a:ln w="6350">
            <a:solidFill>
              <a:srgbClr val="1F6F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02666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limit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05840" y="3044952"/>
            <a:ext cx="4261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estimation cannot scale to field-level variability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721608"/>
            <a:ext cx="566928" cy="365760"/>
          </a:xfrm>
          <a:prstGeom prst="rect">
            <a:avLst/>
          </a:prstGeom>
          <a:solidFill>
            <a:srgbClr val="EBF5FB"/>
          </a:solidFill>
          <a:ln w="6350">
            <a:solidFill>
              <a:srgbClr val="1F6F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72160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opportunity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05840" y="3739896"/>
            <a:ext cx="4261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ML/DL regression learns input-output mappings from data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577840" y="1115568"/>
            <a:ext cx="3310128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77840" y="1115568"/>
            <a:ext cx="3310128" cy="32918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1115568"/>
            <a:ext cx="3182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Definition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87568" y="1554480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type: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87568" y="173736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Multi-Output Regression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87568" y="2103120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Input features: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24144" y="2322576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Soil type, crop type, growth stage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24144" y="256032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Temperature, humidity, rainfall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24144" y="2798064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Soil moisture, pH, N / P / K levels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724144" y="3035808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Field area (ha)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87568" y="3310128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Output targets: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24144" y="3602736"/>
            <a:ext cx="73152" cy="164592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70448" y="3547872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allocation (L/ha)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724144" y="3877056"/>
            <a:ext cx="73152" cy="16459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70448" y="3822192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 fertilizer (kg/ha)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724144" y="4151376"/>
            <a:ext cx="73152" cy="16459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70448" y="4096512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Phosphorus fertilizer (kg/ha)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Generation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2560320" cy="256032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7498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2926080" cy="35478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115568"/>
            <a:ext cx="2926080" cy="329184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115568"/>
            <a:ext cx="2798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1 — Synthetic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0624" y="1609344"/>
            <a:ext cx="45720" cy="201168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55448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2 040 raw rows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1554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incl. 40 duplicates + outliers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0624" y="2084832"/>
            <a:ext cx="45720" cy="201168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02996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1 989 clean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202996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full pipeline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0624" y="2560320"/>
            <a:ext cx="45720" cy="201168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50545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 NaN values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20240" y="250545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~5% on 5 sensor columns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0624" y="3035808"/>
            <a:ext cx="45720" cy="201168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98094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features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20240" y="29809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cat. + 9 continuous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0624" y="3511296"/>
            <a:ext cx="45720" cy="201168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45643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targets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20240" y="34564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water, N, P allocation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0624" y="3986784"/>
            <a:ext cx="45720" cy="201168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393192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Formula-based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20240" y="39319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agro-coefficients + noise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64992" y="1115568"/>
            <a:ext cx="2706624" cy="35478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64992" y="1115568"/>
            <a:ext cx="2706624" cy="32918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56432" y="1115568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2 — GenAI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529584" y="1609344"/>
            <a:ext cx="45720" cy="2011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39312" y="1554480"/>
            <a:ext cx="13628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rows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01916" y="1554480"/>
            <a:ext cx="10094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by chatbot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529584" y="2084832"/>
            <a:ext cx="45720" cy="2011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39312" y="2029968"/>
            <a:ext cx="13628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schema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01916" y="2029968"/>
            <a:ext cx="10094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features + 3 targets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529584" y="2560320"/>
            <a:ext cx="45720" cy="2011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39312" y="2505456"/>
            <a:ext cx="13628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Corn-heavy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01916" y="2505456"/>
            <a:ext cx="10094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distribution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529584" y="3035808"/>
            <a:ext cx="45720" cy="2011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2980944"/>
            <a:ext cx="13628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Arid region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01916" y="2980944"/>
            <a:ext cx="10094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rainfall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529584" y="3511296"/>
            <a:ext cx="45720" cy="2011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3456432"/>
            <a:ext cx="13628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NaN/outliers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901916" y="3456432"/>
            <a:ext cx="10094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for CV only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529584" y="3986784"/>
            <a:ext cx="45720" cy="2011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39312" y="3931920"/>
            <a:ext cx="13628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CV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901916" y="3931920"/>
            <a:ext cx="10094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 evaluation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54496" y="1115568"/>
            <a:ext cx="2633472" cy="35478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254496" y="1115568"/>
            <a:ext cx="2633472" cy="32918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45936" y="111556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Distributions</a:t>
            </a:r>
            <a:endParaRPr lang="en-US" sz="1150" dirty="0"/>
          </a:p>
        </p:txBody>
      </p:sp>
      <p:pic>
        <p:nvPicPr>
          <p:cNvPr id="5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27648" y="1517904"/>
            <a:ext cx="2487168" cy="2249424"/>
          </a:xfrm>
          <a:prstGeom prst="rect">
            <a:avLst/>
          </a:prstGeom>
        </p:spPr>
      </p:pic>
      <p:sp>
        <p:nvSpPr>
          <p:cNvPr id="53" name="Text 50"/>
          <p:cNvSpPr/>
          <p:nvPr/>
        </p:nvSpPr>
        <p:spPr>
          <a:xfrm>
            <a:off x="6254496" y="4645152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key features — Dataset 1 (raw)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Preparation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2560320" cy="256032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7498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517904" y="149961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" y="1133856"/>
            <a:ext cx="1225296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133856"/>
            <a:ext cx="1225296" cy="310896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133856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1752" y="1481328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1752" y="1719072"/>
            <a:ext cx="1133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2040 rows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 NaN, 40 dups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80944" y="149961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719072" y="1133856"/>
            <a:ext cx="1225296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719072" y="1133856"/>
            <a:ext cx="1225296" cy="310896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19072" y="1133856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764792" y="1481328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64792" y="1719072"/>
            <a:ext cx="1133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2040 → 2000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43984" y="149961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82112" y="1133856"/>
            <a:ext cx="1225296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82112" y="1133856"/>
            <a:ext cx="1225296" cy="310896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82112" y="1133856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227832" y="1481328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27832" y="1719072"/>
            <a:ext cx="1133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(sklearn)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07024" y="149961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45152" y="1133856"/>
            <a:ext cx="1225296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45152" y="1133856"/>
            <a:ext cx="1225296" cy="31089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45152" y="1133856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690872" y="1481328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90872" y="1719072"/>
            <a:ext cx="1133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IQR×1.5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 removed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70064" y="149961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08192" y="1133856"/>
            <a:ext cx="1225296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08192" y="1133856"/>
            <a:ext cx="1225296" cy="31089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08192" y="1133856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153912" y="1481328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53912" y="1719072"/>
            <a:ext cx="1133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+ One-Hot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ordinal/nominal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571232" y="1133856"/>
            <a:ext cx="1225296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571232" y="1133856"/>
            <a:ext cx="1225296" cy="31089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71232" y="1133856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616952" y="1481328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616952" y="1719072"/>
            <a:ext cx="1133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56032" y="2395728"/>
            <a:ext cx="202996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0896" y="2450592"/>
            <a:ext cx="1920240" cy="1719072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256032" y="4645152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map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2432304" y="2395728"/>
            <a:ext cx="202996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487168" y="2450592"/>
            <a:ext cx="1920240" cy="1719072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2432304" y="4645152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imputation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4608576" y="2395728"/>
            <a:ext cx="202996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63440" y="2450592"/>
            <a:ext cx="1920240" cy="1719072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4608576" y="4645152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 (IQR)</a:t>
            </a:r>
            <a:endParaRPr lang="en-US" sz="800" dirty="0"/>
          </a:p>
        </p:txBody>
      </p:sp>
      <p:sp>
        <p:nvSpPr>
          <p:cNvPr id="51" name="Shape 46"/>
          <p:cNvSpPr/>
          <p:nvPr/>
        </p:nvSpPr>
        <p:spPr>
          <a:xfrm>
            <a:off x="6784848" y="2395728"/>
            <a:ext cx="202996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839712" y="2450592"/>
            <a:ext cx="1920240" cy="1719072"/>
          </a:xfrm>
          <a:prstGeom prst="rect">
            <a:avLst/>
          </a:prstGeom>
        </p:spPr>
      </p:pic>
      <p:sp>
        <p:nvSpPr>
          <p:cNvPr id="53" name="Text 47"/>
          <p:cNvSpPr/>
          <p:nvPr/>
        </p:nvSpPr>
        <p:spPr>
          <a:xfrm>
            <a:off x="6784848" y="4645152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effect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PCA &amp; LDA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2560320" cy="256032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7498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2779776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115568"/>
            <a:ext cx="2779776" cy="329184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11556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Results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0624" y="1609344"/>
            <a:ext cx="45720" cy="201168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554480"/>
            <a:ext cx="14023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dims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35384" y="1554480"/>
            <a:ext cx="10387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encoded features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0624" y="2103120"/>
            <a:ext cx="45720" cy="201168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048256"/>
            <a:ext cx="14023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35384" y="2048256"/>
            <a:ext cx="10387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(for 95% var.)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0624" y="2596896"/>
            <a:ext cx="45720" cy="201168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542032"/>
            <a:ext cx="14023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kept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35384" y="2542032"/>
            <a:ext cx="10387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96.67 %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0624" y="3090672"/>
            <a:ext cx="45720" cy="201168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035808"/>
            <a:ext cx="14023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35384" y="3035808"/>
            <a:ext cx="10387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→ 15 (11.8 %)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0624" y="3584448"/>
            <a:ext cx="45720" cy="201168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529584"/>
            <a:ext cx="14023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loads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35384" y="3529584"/>
            <a:ext cx="10387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Weather: temp., rain, humidity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0624" y="4078224"/>
            <a:ext cx="45720" cy="201168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4023360"/>
            <a:ext cx="14023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 loads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35384" y="4023360"/>
            <a:ext cx="10387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Soil: pH, N, P levels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18688" y="1115568"/>
            <a:ext cx="2578608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18688" y="1115568"/>
            <a:ext cx="2578608" cy="32918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0128" y="111556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Results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383280" y="1609344"/>
            <a:ext cx="45720" cy="2011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93008" y="1554480"/>
            <a:ext cx="129369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81362" y="1554480"/>
            <a:ext cx="9582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discretised (3 bins)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83280" y="2103120"/>
            <a:ext cx="45720" cy="2011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93008" y="2048256"/>
            <a:ext cx="129369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81362" y="2048256"/>
            <a:ext cx="9582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per target (LD1, LD2)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383280" y="2596896"/>
            <a:ext cx="45720" cy="2011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93008" y="2542032"/>
            <a:ext cx="129369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LD1 variance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81362" y="2542032"/>
            <a:ext cx="9582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99.16 % (water target)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383280" y="3090672"/>
            <a:ext cx="45720" cy="2011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93008" y="3035808"/>
            <a:ext cx="129369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projections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681362" y="3035808"/>
            <a:ext cx="9582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water, N, P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383280" y="3584448"/>
            <a:ext cx="45720" cy="2011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93008" y="3529584"/>
            <a:ext cx="129369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feats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681362" y="3529584"/>
            <a:ext cx="9582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consensus features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383280" y="4078224"/>
            <a:ext cx="45720" cy="2011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93008" y="4023360"/>
            <a:ext cx="129369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features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681362" y="4023360"/>
            <a:ext cx="9582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rainfall, moisture, temp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980176" y="1115568"/>
            <a:ext cx="2907792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980176" y="1115568"/>
            <a:ext cx="2907792" cy="329184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71616" y="1115568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Scree Plot</a:t>
            </a:r>
            <a:endParaRPr lang="en-US" sz="1150" dirty="0"/>
          </a:p>
        </p:txBody>
      </p:sp>
      <p:pic>
        <p:nvPicPr>
          <p:cNvPr id="5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5040" y="1499616"/>
            <a:ext cx="2798064" cy="1261872"/>
          </a:xfrm>
          <a:prstGeom prst="rect">
            <a:avLst/>
          </a:prstGeom>
        </p:spPr>
      </p:pic>
      <p:sp>
        <p:nvSpPr>
          <p:cNvPr id="53" name="Shape 50"/>
          <p:cNvSpPr/>
          <p:nvPr/>
        </p:nvSpPr>
        <p:spPr>
          <a:xfrm>
            <a:off x="5980176" y="2962656"/>
            <a:ext cx="2907792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Shape 51"/>
          <p:cNvSpPr/>
          <p:nvPr/>
        </p:nvSpPr>
        <p:spPr>
          <a:xfrm>
            <a:off x="5980176" y="2962656"/>
            <a:ext cx="2907792" cy="329184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071616" y="2962656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Projection</a:t>
            </a:r>
            <a:endParaRPr lang="en-US" sz="1150" dirty="0"/>
          </a:p>
        </p:txBody>
      </p:sp>
      <p:pic>
        <p:nvPicPr>
          <p:cNvPr id="5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35040" y="3346704"/>
            <a:ext cx="2798064" cy="12618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— Importance &amp; Correlation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2560320" cy="256032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7498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— SELECTION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4261104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115568"/>
            <a:ext cx="4261104" cy="329184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115568"/>
            <a:ext cx="4133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Feature Importance</a:t>
            </a:r>
            <a:endParaRPr lang="en-US" sz="11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9184" y="1499616"/>
            <a:ext cx="4114800" cy="27432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700016" y="1115568"/>
            <a:ext cx="4187952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0016" y="1115568"/>
            <a:ext cx="4187952" cy="329184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91456" y="1115568"/>
            <a:ext cx="4059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Each Target</a:t>
            </a:r>
            <a:endParaRPr lang="en-US" sz="11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73168" y="1499616"/>
            <a:ext cx="4041648" cy="27432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56032" y="4681728"/>
            <a:ext cx="8631936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29184" y="4681728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consensus features selected: </a:t>
            </a:r>
            <a:r>
              <a:rPr lang="en-US" sz="950" dirty="0">
                <a:solidFill>
                  <a:srgbClr val="1F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rainfall_mm, soil_moisture_pct, temperature_C, nitrogen_mgkg, phosphorus_mgkg, growth_stage_enc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Splitting — Two Techniques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2560320" cy="256032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7498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4169664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115568"/>
            <a:ext cx="4169664" cy="329184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115568"/>
            <a:ext cx="4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1 — Train / Val / Test (Dataset 1)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554480"/>
            <a:ext cx="2726741" cy="402336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92501" y="1554480"/>
            <a:ext cx="584302" cy="40233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76802" y="1554480"/>
            <a:ext cx="584302" cy="40233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09344"/>
            <a:ext cx="27267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70%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92501" y="1609344"/>
            <a:ext cx="5843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15%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676802" y="1609344"/>
            <a:ext cx="5843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15%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84048" y="20848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17904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1 392 rows (70.0%)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0" y="208483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model parameters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4048" y="2560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17904" y="2560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298 rows (15.0%)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60320" y="256032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during training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84048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517904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 rows (15.0%)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60320" y="3035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unbiased evaluation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84048" y="35112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517904" y="35112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60320" y="351129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reproducibility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6032" y="3986784"/>
            <a:ext cx="4169664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7830" y="3858768"/>
            <a:ext cx="4048120" cy="1083564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4663440" y="1115568"/>
            <a:ext cx="4290060" cy="392277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663440" y="1115568"/>
            <a:ext cx="4224528" cy="32918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54880" y="1115568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2 — K-Fold CV (Dataset 2)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773168" y="1536192"/>
            <a:ext cx="731520" cy="274320"/>
          </a:xfrm>
          <a:prstGeom prst="rect">
            <a:avLst/>
          </a:prstGeom>
          <a:solidFill>
            <a:srgbClr val="E67E2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73168" y="15361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5541264" y="1536192"/>
            <a:ext cx="731520" cy="274320"/>
          </a:xfrm>
          <a:prstGeom prst="rect">
            <a:avLst/>
          </a:prstGeom>
          <a:solidFill>
            <a:srgbClr val="1F6FAE">
              <a:alpha val="6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541264" y="15361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6309360" y="1536192"/>
            <a:ext cx="731520" cy="274320"/>
          </a:xfrm>
          <a:prstGeom prst="rect">
            <a:avLst/>
          </a:prstGeom>
          <a:solidFill>
            <a:srgbClr val="1F6FAE">
              <a:alpha val="6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09360" y="15361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7077456" y="1536192"/>
            <a:ext cx="731520" cy="274320"/>
          </a:xfrm>
          <a:prstGeom prst="rect">
            <a:avLst/>
          </a:prstGeom>
          <a:solidFill>
            <a:srgbClr val="1F6FAE">
              <a:alpha val="6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077456" y="15361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7845552" y="1536192"/>
            <a:ext cx="731520" cy="274320"/>
          </a:xfrm>
          <a:prstGeom prst="rect">
            <a:avLst/>
          </a:prstGeom>
          <a:solidFill>
            <a:srgbClr val="1F6FAE">
              <a:alpha val="6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845552" y="15361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8613648" y="153619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4773168" y="1865376"/>
            <a:ext cx="731520" cy="274320"/>
          </a:xfrm>
          <a:prstGeom prst="rect">
            <a:avLst/>
          </a:prstGeom>
          <a:solidFill>
            <a:srgbClr val="1F6FAE">
              <a:alpha val="6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773168" y="18653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46" name="Shape 43"/>
          <p:cNvSpPr/>
          <p:nvPr/>
        </p:nvSpPr>
        <p:spPr>
          <a:xfrm>
            <a:off x="5541264" y="1865376"/>
            <a:ext cx="731520" cy="274320"/>
          </a:xfrm>
          <a:prstGeom prst="rect">
            <a:avLst/>
          </a:prstGeom>
          <a:solidFill>
            <a:srgbClr val="E67E2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541264" y="18653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700" dirty="0"/>
          </a:p>
        </p:txBody>
      </p:sp>
      <p:sp>
        <p:nvSpPr>
          <p:cNvPr id="48" name="Shape 45"/>
          <p:cNvSpPr/>
          <p:nvPr/>
        </p:nvSpPr>
        <p:spPr>
          <a:xfrm>
            <a:off x="6309360" y="1865376"/>
            <a:ext cx="731520" cy="274320"/>
          </a:xfrm>
          <a:prstGeom prst="rect">
            <a:avLst/>
          </a:prstGeom>
          <a:solidFill>
            <a:srgbClr val="1F6FAE">
              <a:alpha val="6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309360" y="18653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50" name="Shape 47"/>
          <p:cNvSpPr/>
          <p:nvPr/>
        </p:nvSpPr>
        <p:spPr>
          <a:xfrm>
            <a:off x="7077456" y="1865376"/>
            <a:ext cx="731520" cy="274320"/>
          </a:xfrm>
          <a:prstGeom prst="rect">
            <a:avLst/>
          </a:prstGeom>
          <a:solidFill>
            <a:srgbClr val="1F6FAE">
              <a:alpha val="6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077456" y="18653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52" name="Shape 49"/>
          <p:cNvSpPr/>
          <p:nvPr/>
        </p:nvSpPr>
        <p:spPr>
          <a:xfrm>
            <a:off x="7845552" y="1865376"/>
            <a:ext cx="731520" cy="274320"/>
          </a:xfrm>
          <a:prstGeom prst="rect">
            <a:avLst/>
          </a:prstGeom>
          <a:solidFill>
            <a:srgbClr val="1F6FAE">
              <a:alpha val="6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845552" y="18653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54" name="Text 51"/>
          <p:cNvSpPr/>
          <p:nvPr/>
        </p:nvSpPr>
        <p:spPr>
          <a:xfrm>
            <a:off x="8613648" y="1865376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4773168" y="2194560"/>
            <a:ext cx="731520" cy="274320"/>
          </a:xfrm>
          <a:prstGeom prst="rect">
            <a:avLst/>
          </a:prstGeom>
          <a:solidFill>
            <a:srgbClr val="1F6FAE">
              <a:alpha val="6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773168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5541264" y="2194560"/>
            <a:ext cx="731520" cy="274320"/>
          </a:xfrm>
          <a:prstGeom prst="rect">
            <a:avLst/>
          </a:prstGeom>
          <a:solidFill>
            <a:srgbClr val="1F6FAE">
              <a:alpha val="6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541264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6309360" y="2194560"/>
            <a:ext cx="731520" cy="274320"/>
          </a:xfrm>
          <a:prstGeom prst="rect">
            <a:avLst/>
          </a:prstGeom>
          <a:solidFill>
            <a:srgbClr val="E67E2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30936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7077456" y="2194560"/>
            <a:ext cx="731520" cy="274320"/>
          </a:xfrm>
          <a:prstGeom prst="rect">
            <a:avLst/>
          </a:prstGeom>
          <a:solidFill>
            <a:srgbClr val="1F6FAE">
              <a:alpha val="6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077456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7845552" y="2194560"/>
            <a:ext cx="731520" cy="274320"/>
          </a:xfrm>
          <a:prstGeom prst="rect">
            <a:avLst/>
          </a:prstGeom>
          <a:solidFill>
            <a:srgbClr val="1F6FAE">
              <a:alpha val="6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7845552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8613648" y="219456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4773168" y="2523744"/>
            <a:ext cx="731520" cy="274320"/>
          </a:xfrm>
          <a:prstGeom prst="rect">
            <a:avLst/>
          </a:prstGeom>
          <a:solidFill>
            <a:srgbClr val="1F6FAE">
              <a:alpha val="6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773168" y="25237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68" name="Shape 65"/>
          <p:cNvSpPr/>
          <p:nvPr/>
        </p:nvSpPr>
        <p:spPr>
          <a:xfrm>
            <a:off x="5541264" y="2523744"/>
            <a:ext cx="731520" cy="274320"/>
          </a:xfrm>
          <a:prstGeom prst="rect">
            <a:avLst/>
          </a:prstGeom>
          <a:solidFill>
            <a:srgbClr val="1F6FAE">
              <a:alpha val="6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5541264" y="25237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70" name="Shape 67"/>
          <p:cNvSpPr/>
          <p:nvPr/>
        </p:nvSpPr>
        <p:spPr>
          <a:xfrm>
            <a:off x="6309360" y="2523744"/>
            <a:ext cx="731520" cy="274320"/>
          </a:xfrm>
          <a:prstGeom prst="rect">
            <a:avLst/>
          </a:prstGeom>
          <a:solidFill>
            <a:srgbClr val="1F6FAE">
              <a:alpha val="6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6309360" y="25237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72" name="Shape 69"/>
          <p:cNvSpPr/>
          <p:nvPr/>
        </p:nvSpPr>
        <p:spPr>
          <a:xfrm>
            <a:off x="7077456" y="2523744"/>
            <a:ext cx="731520" cy="274320"/>
          </a:xfrm>
          <a:prstGeom prst="rect">
            <a:avLst/>
          </a:prstGeom>
          <a:solidFill>
            <a:srgbClr val="E67E2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7077456" y="25237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700" dirty="0"/>
          </a:p>
        </p:txBody>
      </p:sp>
      <p:sp>
        <p:nvSpPr>
          <p:cNvPr id="74" name="Shape 71"/>
          <p:cNvSpPr/>
          <p:nvPr/>
        </p:nvSpPr>
        <p:spPr>
          <a:xfrm>
            <a:off x="7845552" y="2523744"/>
            <a:ext cx="731520" cy="274320"/>
          </a:xfrm>
          <a:prstGeom prst="rect">
            <a:avLst/>
          </a:prstGeom>
          <a:solidFill>
            <a:srgbClr val="1F6FAE">
              <a:alpha val="6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7845552" y="25237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76" name="Text 73"/>
          <p:cNvSpPr/>
          <p:nvPr/>
        </p:nvSpPr>
        <p:spPr>
          <a:xfrm>
            <a:off x="8613648" y="2523744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4</a:t>
            </a:r>
            <a:endParaRPr lang="en-US" sz="850" dirty="0"/>
          </a:p>
        </p:txBody>
      </p:sp>
      <p:sp>
        <p:nvSpPr>
          <p:cNvPr id="77" name="Shape 74"/>
          <p:cNvSpPr/>
          <p:nvPr/>
        </p:nvSpPr>
        <p:spPr>
          <a:xfrm>
            <a:off x="4773168" y="2852928"/>
            <a:ext cx="731520" cy="274320"/>
          </a:xfrm>
          <a:prstGeom prst="rect">
            <a:avLst/>
          </a:prstGeom>
          <a:solidFill>
            <a:srgbClr val="1F6FAE">
              <a:alpha val="6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4773168" y="28529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79" name="Shape 76"/>
          <p:cNvSpPr/>
          <p:nvPr/>
        </p:nvSpPr>
        <p:spPr>
          <a:xfrm>
            <a:off x="5541264" y="2852928"/>
            <a:ext cx="731520" cy="274320"/>
          </a:xfrm>
          <a:prstGeom prst="rect">
            <a:avLst/>
          </a:prstGeom>
          <a:solidFill>
            <a:srgbClr val="1F6FAE">
              <a:alpha val="6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5541264" y="28529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81" name="Shape 78"/>
          <p:cNvSpPr/>
          <p:nvPr/>
        </p:nvSpPr>
        <p:spPr>
          <a:xfrm>
            <a:off x="6309360" y="2852928"/>
            <a:ext cx="731520" cy="274320"/>
          </a:xfrm>
          <a:prstGeom prst="rect">
            <a:avLst/>
          </a:prstGeom>
          <a:solidFill>
            <a:srgbClr val="1F6FAE">
              <a:alpha val="6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6309360" y="28529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83" name="Shape 80"/>
          <p:cNvSpPr/>
          <p:nvPr/>
        </p:nvSpPr>
        <p:spPr>
          <a:xfrm>
            <a:off x="7077456" y="2852928"/>
            <a:ext cx="731520" cy="274320"/>
          </a:xfrm>
          <a:prstGeom prst="rect">
            <a:avLst/>
          </a:prstGeom>
          <a:solidFill>
            <a:srgbClr val="1F6FAE">
              <a:alpha val="6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7077456" y="28529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85" name="Shape 82"/>
          <p:cNvSpPr/>
          <p:nvPr/>
        </p:nvSpPr>
        <p:spPr>
          <a:xfrm>
            <a:off x="7845552" y="2852928"/>
            <a:ext cx="731520" cy="274320"/>
          </a:xfrm>
          <a:prstGeom prst="rect">
            <a:avLst/>
          </a:prstGeom>
          <a:solidFill>
            <a:srgbClr val="E67E2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7845552" y="28529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700" dirty="0"/>
          </a:p>
        </p:txBody>
      </p:sp>
      <p:sp>
        <p:nvSpPr>
          <p:cNvPr id="87" name="Text 84"/>
          <p:cNvSpPr/>
          <p:nvPr/>
        </p:nvSpPr>
        <p:spPr>
          <a:xfrm>
            <a:off x="8613648" y="2852928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5</a:t>
            </a:r>
            <a:endParaRPr lang="en-US" sz="850" dirty="0"/>
          </a:p>
        </p:txBody>
      </p:sp>
      <p:sp>
        <p:nvSpPr>
          <p:cNvPr id="88" name="Shape 85"/>
          <p:cNvSpPr/>
          <p:nvPr/>
        </p:nvSpPr>
        <p:spPr>
          <a:xfrm>
            <a:off x="4828032" y="3152902"/>
            <a:ext cx="4572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4937760" y="3129788"/>
            <a:ext cx="21429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R² (avg)</a:t>
            </a:r>
            <a:endParaRPr lang="en-US" sz="1000" dirty="0"/>
          </a:p>
        </p:txBody>
      </p:sp>
      <p:sp>
        <p:nvSpPr>
          <p:cNvPr id="90" name="Text 87"/>
          <p:cNvSpPr/>
          <p:nvPr/>
        </p:nvSpPr>
        <p:spPr>
          <a:xfrm>
            <a:off x="7038320" y="3123438"/>
            <a:ext cx="15873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0.9115 ± 0.0039</a:t>
            </a:r>
            <a:endParaRPr lang="en-US" sz="1000" dirty="0"/>
          </a:p>
        </p:txBody>
      </p:sp>
      <p:sp>
        <p:nvSpPr>
          <p:cNvPr id="91" name="Shape 88"/>
          <p:cNvSpPr/>
          <p:nvPr/>
        </p:nvSpPr>
        <p:spPr>
          <a:xfrm>
            <a:off x="4828032" y="3427222"/>
            <a:ext cx="4572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4937760" y="3416808"/>
            <a:ext cx="21429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R² (avg)</a:t>
            </a:r>
            <a:endParaRPr lang="en-US" sz="1000" dirty="0"/>
          </a:p>
        </p:txBody>
      </p:sp>
      <p:sp>
        <p:nvSpPr>
          <p:cNvPr id="93" name="Text 90"/>
          <p:cNvSpPr/>
          <p:nvPr/>
        </p:nvSpPr>
        <p:spPr>
          <a:xfrm>
            <a:off x="7038320" y="3397758"/>
            <a:ext cx="15873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0.3912 ± 0.0205</a:t>
            </a:r>
            <a:endParaRPr lang="en-US" sz="1000" dirty="0"/>
          </a:p>
        </p:txBody>
      </p:sp>
      <p:sp>
        <p:nvSpPr>
          <p:cNvPr id="94" name="Shape 91"/>
          <p:cNvSpPr/>
          <p:nvPr/>
        </p:nvSpPr>
        <p:spPr>
          <a:xfrm>
            <a:off x="4828032" y="3701542"/>
            <a:ext cx="45720" cy="20116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4937760" y="3672078"/>
            <a:ext cx="21429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</a:t>
            </a:r>
            <a:endParaRPr lang="en-US" sz="1000" dirty="0"/>
          </a:p>
        </p:txBody>
      </p:sp>
      <p:sp>
        <p:nvSpPr>
          <p:cNvPr id="96" name="Text 93"/>
          <p:cNvSpPr/>
          <p:nvPr/>
        </p:nvSpPr>
        <p:spPr>
          <a:xfrm>
            <a:off x="7028800" y="3634384"/>
            <a:ext cx="15873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train=0.916 / val=0.376</a:t>
            </a:r>
            <a:endParaRPr lang="en-US" sz="1000" dirty="0"/>
          </a:p>
        </p:txBody>
      </p:sp>
      <p:sp>
        <p:nvSpPr>
          <p:cNvPr id="97" name="Shape 94"/>
          <p:cNvSpPr/>
          <p:nvPr/>
        </p:nvSpPr>
        <p:spPr>
          <a:xfrm>
            <a:off x="4828032" y="3975862"/>
            <a:ext cx="45720" cy="20116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4937760" y="3946398"/>
            <a:ext cx="21429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</a:t>
            </a:r>
            <a:endParaRPr lang="en-US" sz="1000" dirty="0"/>
          </a:p>
        </p:txBody>
      </p:sp>
      <p:sp>
        <p:nvSpPr>
          <p:cNvPr id="99" name="Text 96"/>
          <p:cNvSpPr/>
          <p:nvPr/>
        </p:nvSpPr>
        <p:spPr>
          <a:xfrm>
            <a:off x="7028800" y="3946398"/>
            <a:ext cx="15873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train=0.909 / val=0.365</a:t>
            </a:r>
            <a:endParaRPr lang="en-US" sz="1000" dirty="0"/>
          </a:p>
        </p:txBody>
      </p:sp>
      <p:sp>
        <p:nvSpPr>
          <p:cNvPr id="100" name="Shape 97"/>
          <p:cNvSpPr/>
          <p:nvPr/>
        </p:nvSpPr>
        <p:spPr>
          <a:xfrm>
            <a:off x="4828032" y="4250182"/>
            <a:ext cx="45720" cy="20116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4937760" y="4233418"/>
            <a:ext cx="21429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</a:t>
            </a:r>
            <a:endParaRPr lang="en-US" sz="1000" dirty="0"/>
          </a:p>
        </p:txBody>
      </p:sp>
      <p:sp>
        <p:nvSpPr>
          <p:cNvPr id="102" name="Text 99"/>
          <p:cNvSpPr/>
          <p:nvPr/>
        </p:nvSpPr>
        <p:spPr>
          <a:xfrm>
            <a:off x="7028800" y="4214368"/>
            <a:ext cx="15873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train=0.905 / val=0.417</a:t>
            </a:r>
            <a:endParaRPr lang="en-US" sz="1000" dirty="0"/>
          </a:p>
        </p:txBody>
      </p:sp>
      <p:sp>
        <p:nvSpPr>
          <p:cNvPr id="103" name="Shape 100"/>
          <p:cNvSpPr/>
          <p:nvPr/>
        </p:nvSpPr>
        <p:spPr>
          <a:xfrm>
            <a:off x="4828032" y="4524502"/>
            <a:ext cx="45720" cy="20116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4937760" y="4482338"/>
            <a:ext cx="21429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4</a:t>
            </a:r>
            <a:endParaRPr lang="en-US" sz="1000" dirty="0"/>
          </a:p>
        </p:txBody>
      </p:sp>
      <p:sp>
        <p:nvSpPr>
          <p:cNvPr id="105" name="Text 102"/>
          <p:cNvSpPr/>
          <p:nvPr/>
        </p:nvSpPr>
        <p:spPr>
          <a:xfrm>
            <a:off x="7054774" y="4526280"/>
            <a:ext cx="15873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train=0.915 / val=0.413</a:t>
            </a:r>
            <a:endParaRPr lang="en-US" sz="1000" dirty="0"/>
          </a:p>
        </p:txBody>
      </p:sp>
      <p:sp>
        <p:nvSpPr>
          <p:cNvPr id="106" name="Shape 103"/>
          <p:cNvSpPr/>
          <p:nvPr/>
        </p:nvSpPr>
        <p:spPr>
          <a:xfrm>
            <a:off x="4828032" y="4798822"/>
            <a:ext cx="45720" cy="20116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4937760" y="4756658"/>
            <a:ext cx="21429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5</a:t>
            </a:r>
            <a:endParaRPr lang="en-US" sz="1000" dirty="0"/>
          </a:p>
        </p:txBody>
      </p:sp>
      <p:sp>
        <p:nvSpPr>
          <p:cNvPr id="108" name="Text 105"/>
          <p:cNvSpPr/>
          <p:nvPr/>
        </p:nvSpPr>
        <p:spPr>
          <a:xfrm>
            <a:off x="7054774" y="4756658"/>
            <a:ext cx="15873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train=0.913 / val=0.385</a:t>
            </a:r>
            <a:endParaRPr lang="en-US" sz="1000" dirty="0"/>
          </a:p>
        </p:txBody>
      </p:sp>
      <p:sp>
        <p:nvSpPr>
          <p:cNvPr id="109" name="Shape 106"/>
          <p:cNvSpPr/>
          <p:nvPr/>
        </p:nvSpPr>
        <p:spPr>
          <a:xfrm>
            <a:off x="4663440" y="5120640"/>
            <a:ext cx="4224528" cy="91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0" name="Text 107"/>
          <p:cNvSpPr/>
          <p:nvPr/>
        </p:nvSpPr>
        <p:spPr>
          <a:xfrm>
            <a:off x="4736592" y="786638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Gap train R²=0.91 vs val R²=0.39 signals overfitting on Dataset 2 (small, 500 rows)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Selection &amp; Training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2560320" cy="256032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7498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2834640" cy="37124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115568"/>
            <a:ext cx="2834640" cy="36576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11556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135331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— Tree Ensemble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59105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" y="1892808"/>
            <a:ext cx="82296" cy="82296"/>
          </a:xfrm>
          <a:prstGeom prst="ellipse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8105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= 200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2185416"/>
            <a:ext cx="82296" cy="82296"/>
          </a:xfrm>
          <a:prstGeom prst="ellipse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103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= None (full trees)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2478024"/>
            <a:ext cx="82296" cy="82296"/>
          </a:xfrm>
          <a:prstGeom prst="ellipse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3957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 = 5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" y="2770632"/>
            <a:ext cx="82296" cy="82296"/>
          </a:xfrm>
          <a:prstGeom prst="ellipse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6883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min_samples_leaf = 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4048" y="3063240"/>
            <a:ext cx="82296" cy="82296"/>
          </a:xfrm>
          <a:prstGeom prst="ellipse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29809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Multi-output: native support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9184" y="3346704"/>
            <a:ext cx="2688336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383280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547872"/>
            <a:ext cx="2615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Natively supports multi-output regression. Robust to noise and non-linear interactions. Provides feature importances for agronomic interpretability.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18688" y="1115568"/>
            <a:ext cx="2834640" cy="37124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18688" y="1115568"/>
            <a:ext cx="2834640" cy="365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111556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Multi-Output SVR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10128" y="135331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— Kernel Method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28416" y="159105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46704" y="1892808"/>
            <a:ext cx="82296" cy="8229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93008" y="18105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= RBF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46704" y="2185416"/>
            <a:ext cx="82296" cy="8229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93008" y="2103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10  (regularisation)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346704" y="2478024"/>
            <a:ext cx="82296" cy="8229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93008" y="23957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epsilon = 0.1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46704" y="2770632"/>
            <a:ext cx="82296" cy="8229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93008" y="26883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= 'scale'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346704" y="3063240"/>
            <a:ext cx="82296" cy="8229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93008" y="29809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MultiOutputRegressor wrapper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91840" y="3346704"/>
            <a:ext cx="2688336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28416" y="3383280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28416" y="3547872"/>
            <a:ext cx="2615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SVR per target via wrapper. RBF kernel captures non-linear patterns. Effective in high-dimensional feature spaces with moderate dataset size.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181344" y="1115568"/>
            <a:ext cx="2834640" cy="37124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81344" y="1115568"/>
            <a:ext cx="2834640" cy="3657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72784" y="111556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Neural Network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272784" y="135331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— Dense Network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291072" y="159105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309360" y="1892808"/>
            <a:ext cx="82296" cy="8229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55664" y="18105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128 → 64 → 32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309360" y="2185416"/>
            <a:ext cx="82296" cy="8229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55664" y="2103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Activation: ReLU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309360" y="2478024"/>
            <a:ext cx="82296" cy="8229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55664" y="23957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Adam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309360" y="2770632"/>
            <a:ext cx="82296" cy="8229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55664" y="26883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alpha = 1e-4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309360" y="3063240"/>
            <a:ext cx="82296" cy="8229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55664" y="29809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(patience=20)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254496" y="3346704"/>
            <a:ext cx="2688336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91072" y="3383280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291072" y="3547872"/>
            <a:ext cx="2615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3-output architecture. Shared hidden layers model cross-target correlations. Early stopping prevents overfitting on 1392 training samples.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56032" y="4901184"/>
            <a:ext cx="8631936" cy="0"/>
          </a:xfrm>
          <a:prstGeom prst="rect">
            <a:avLst/>
          </a:prstGeom>
          <a:solidFill>
            <a:srgbClr val="EBF5FB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Results — Real Metrics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2560320" cy="256032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7498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5084064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115568"/>
            <a:ext cx="5084064" cy="329184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115568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Comparison (Multi-output Average)</a:t>
            </a:r>
            <a:endParaRPr lang="en-US" sz="11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9184" y="1499616"/>
            <a:ext cx="4937760" cy="223113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522976" y="1115568"/>
            <a:ext cx="3364992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22976" y="1115568"/>
            <a:ext cx="3364992" cy="329184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14416" y="1115568"/>
            <a:ext cx="3236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Results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96128" y="1499616"/>
          <a:ext cx="3218688" cy="1463040"/>
        </p:xfrm>
        <a:graphic>
          <a:graphicData uri="http://schemas.openxmlformats.org/drawingml/2006/table">
            <a:tbl>
              <a:tblPr/>
              <a:tblGrid>
                <a:gridCol w="1426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 RF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6F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5596128" y="2999232"/>
            <a:ext cx="3218688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achieved best baseline R²=0.75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RF best RMSE=33.82 (↓19%)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56032" y="4005072"/>
            <a:ext cx="8631936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56032" y="3730752"/>
            <a:ext cx="8631936" cy="329184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84048" y="370332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Per-Target Results — Tuned RandomForest (Final Model)</a:t>
            </a:r>
            <a:endParaRPr lang="en-US" sz="115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7269534"/>
              </p:ext>
            </p:extLst>
          </p:nvPr>
        </p:nvGraphicFramePr>
        <p:xfrm>
          <a:off x="256032" y="4036822"/>
          <a:ext cx="8631937" cy="950976"/>
        </p:xfrm>
        <a:graphic>
          <a:graphicData uri="http://schemas.openxmlformats.org/drawingml/2006/table">
            <a:tbl>
              <a:tblPr/>
              <a:tblGrid>
                <a:gridCol w="23254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1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1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1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53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allocation (L/ha)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31.83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— high variability in water demand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Nitrogen fert. (kg/ha)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0.7887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— N level in soil is strong predictor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Phosphorus fert. (kg/ha)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— P prediction is harder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Evaluation — Predicted vs Actual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2560320" cy="256032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7498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— GRAPHICAL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8631936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115568"/>
            <a:ext cx="8631936" cy="329184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115568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vs Actual — RandomForest (Test Set, 299 samples)</a:t>
            </a:r>
            <a:endParaRPr lang="en-US" sz="11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9184" y="1499616"/>
            <a:ext cx="8485632" cy="21031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56032" y="3785616"/>
            <a:ext cx="8631936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6032" y="3785616"/>
            <a:ext cx="8631936" cy="329184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72" y="3785616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of Scatter Plots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29184" y="4133088"/>
            <a:ext cx="54864" cy="7132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8912" y="41330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(R²=0.71):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38912" y="4334256"/>
            <a:ext cx="2706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scattered around the 45° line but with high dispersion at high allocation values (&gt;400 L/ha). The model under-predicts extreme values — range compression effect typical of tree ensembles.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200400" y="4133088"/>
            <a:ext cx="54864" cy="7132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10128" y="41330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 (R²=0.79):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310128" y="4334256"/>
            <a:ext cx="2706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 cluster around the diagonal. The soil N level is the dominant predictor and is directly available as a feature, explaining better fit. Bias ≈ −0.77 (slight under-prediction).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071616" y="4133088"/>
            <a:ext cx="54864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81344" y="41330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Phosphorus (R²=0.61):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181344" y="4334256"/>
            <a:ext cx="2706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scatter of the three targets. P uptake depends on complex soil interactions (pH, K interaction) not fully captured with 6 features. Lowest R² but RMSE=10.3 is small in absolute terms.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Analysis — Model Diagnostics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2560320" cy="256032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7498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— RESIDUALS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6032" y="1033018"/>
            <a:ext cx="8631936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033018"/>
            <a:ext cx="8631936" cy="329184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033018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Distribution — RandomForest (Test Set)</a:t>
            </a:r>
            <a:endParaRPr lang="en-US" sz="11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9184" y="1417066"/>
            <a:ext cx="8485632" cy="217627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56032" y="3794506"/>
            <a:ext cx="420624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" y="3601974"/>
            <a:ext cx="4206240" cy="329184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72" y="3569970"/>
            <a:ext cx="4078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Heatmap — All Models × Targets</a:t>
            </a:r>
            <a:endParaRPr lang="en-US" sz="11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9184" y="3938016"/>
            <a:ext cx="4206240" cy="113233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663440" y="3794506"/>
            <a:ext cx="4224528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63440" y="3601974"/>
            <a:ext cx="4224528" cy="329184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54880" y="3565906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Diagnostics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718304" y="4040886"/>
            <a:ext cx="4059936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(mean residual): </a:t>
            </a:r>
            <a:r>
              <a:rPr lang="en-US" sz="950" dirty="0">
                <a:solidFill>
                  <a:srgbClr val="1F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≈ +4.6 | N ≈ −0.77 | P ≈ −0.69
</a:t>
            </a:r>
            <a:r>
              <a:rPr lang="en-US" sz="9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shape: </a:t>
            </a: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symmetric around 0 for N &amp; P; </a:t>
            </a: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 for water (outlier values not predicted)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Enhancement — GridSearchCV Tuning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2560320" cy="256032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7498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4169664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115568"/>
            <a:ext cx="4169664" cy="329184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115568"/>
            <a:ext cx="4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Configuration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9184" y="1499616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combinations × 5-fold CV = 405 fits  (completed in ~50s)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" y="1828800"/>
            <a:ext cx="3950208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0624" y="186537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920240" y="18653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[100, 200, 300]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0624" y="21214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300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9184" y="2487168"/>
            <a:ext cx="3950208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0624" y="252374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920240" y="2523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[None, 10, 20]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20624" y="27797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None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" y="3145536"/>
            <a:ext cx="3950208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20624" y="318211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920240" y="31821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 5, 10]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20624" y="34381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9184" y="3803904"/>
            <a:ext cx="3950208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20624" y="38404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max_features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920240" y="38404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['sqrt', 0.5, 0.8]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20624" y="4096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0.5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9184" y="4462272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Scoring: R²  |  refit=True  |  Best CV R²=0.6700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08576" y="1115568"/>
            <a:ext cx="4279392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08576" y="1115568"/>
            <a:ext cx="4279392" cy="329184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0016" y="1115568"/>
            <a:ext cx="4151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Results — Before vs After</a:t>
            </a:r>
            <a:endParaRPr lang="en-US" sz="115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81728" y="1499616"/>
            <a:ext cx="4133088" cy="2286000"/>
          </a:xfrm>
          <a:prstGeom prst="rect">
            <a:avLst/>
          </a:prstGeom>
        </p:spPr>
      </p:pic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443288"/>
              </p:ext>
            </p:extLst>
          </p:nvPr>
        </p:nvGraphicFramePr>
        <p:xfrm>
          <a:off x="4608576" y="3803904"/>
          <a:ext cx="4279392" cy="1097280"/>
        </p:xfrm>
        <a:graphic>
          <a:graphicData uri="http://schemas.openxmlformats.org/drawingml/2006/table">
            <a:tbl>
              <a:tblPr/>
              <a:tblGrid>
                <a:gridCol w="1420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9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9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RF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 RF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+10.96%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— MLP Learning Curve &amp;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2560320" cy="256032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7498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06-07 — DL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5084064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115568"/>
            <a:ext cx="5084064" cy="329184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115568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Training Curve (Real)</a:t>
            </a:r>
            <a:endParaRPr lang="en-US" sz="11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9184" y="1499616"/>
            <a:ext cx="4937760" cy="28346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522976" y="1115568"/>
            <a:ext cx="3364992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22976" y="1115568"/>
            <a:ext cx="3364992" cy="329184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14416" y="1115568"/>
            <a:ext cx="3236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Architecture &amp; Results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87568" y="1609344"/>
            <a:ext cx="45720" cy="201168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97296" y="1554480"/>
            <a:ext cx="17183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41753" y="1554480"/>
            <a:ext cx="12728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→ 64 → 32 (ReLU)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687568" y="1993392"/>
            <a:ext cx="45720" cy="201168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97296" y="1938528"/>
            <a:ext cx="17183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441753" y="1938528"/>
            <a:ext cx="12728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Adam, lr=1e-3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687568" y="2377440"/>
            <a:ext cx="45720" cy="201168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97296" y="2322576"/>
            <a:ext cx="17183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441753" y="2322576"/>
            <a:ext cx="12728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alpha=1e-4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687568" y="2761488"/>
            <a:ext cx="45720" cy="201168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97296" y="2706624"/>
            <a:ext cx="17183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441753" y="2706624"/>
            <a:ext cx="12728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patience=20 epochs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687568" y="3145536"/>
            <a:ext cx="45720" cy="201168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97296" y="3090672"/>
            <a:ext cx="17183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R²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441753" y="3090672"/>
            <a:ext cx="12728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6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0.6842 (2nd best val)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687568" y="3529584"/>
            <a:ext cx="45720" cy="20116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797296" y="3474720"/>
            <a:ext cx="17183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441753" y="3474720"/>
            <a:ext cx="12728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0.7476  (BEST)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687568" y="3913632"/>
            <a:ext cx="45720" cy="20116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797296" y="3858768"/>
            <a:ext cx="17183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441753" y="3858768"/>
            <a:ext cx="12728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44.25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687568" y="4297680"/>
            <a:ext cx="45720" cy="20116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797296" y="4242816"/>
            <a:ext cx="17183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7441753" y="4242816"/>
            <a:ext cx="12728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baseline — joint</a:t>
            </a:r>
            <a:endParaRPr lang="en-US" sz="1000" dirty="0"/>
          </a:p>
          <a:p>
            <a:pPr marL="0" indent="0" algn="r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leverages target</a:t>
            </a:r>
            <a:endParaRPr lang="en-US" sz="1000" dirty="0"/>
          </a:p>
          <a:p>
            <a:pPr marL="0" indent="0" algn="r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implicitly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Analysis &amp; Discussion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2560320" cy="256032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7498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4261104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115568"/>
            <a:ext cx="73152" cy="11887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188720"/>
            <a:ext cx="4005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is the best baseline model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" y="1444752"/>
            <a:ext cx="4005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(Test R²=0.7476) outperforms both RF (0.6329) and SVR (0.7217) on the held-out test set. Shared hidden layers (128→64→32) allow the network to learn correlations between water demand and nutrient requirements — biologically meaningful, since crops at flowering peak both water and nitrogen simultaneously.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0016" y="1115568"/>
            <a:ext cx="4261104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0016" y="1115568"/>
            <a:ext cx="73152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188720"/>
            <a:ext cx="4005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underfits on water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64608" y="1444752"/>
            <a:ext cx="4005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allocation (L/ha) shows the weakest R²=0.71 even after tuning. The target range is very large (30–1990 L/ha) and contains outliers that were not fully removed. Tree ensembles compress the prediction range, under-predicting extreme high-demand scenarios. Feature engineering (more weather data, time-series inputs) could help.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6032" y="2414016"/>
            <a:ext cx="4261104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2414016"/>
            <a:ext cx="73152" cy="1188720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2487168"/>
            <a:ext cx="4005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 is the easiest target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0624" y="2743200"/>
            <a:ext cx="4005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fertilizer achieves R²=0.7887, the best of the three. This is explained by the direct availability of nitrogen_mgkg as a soil measurement feature — the model can learn a simple deficiency rule: low soil N → high fertilizer. This linear-ish relationship is well within any model's capacity.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0016" y="2414016"/>
            <a:ext cx="4261104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0016" y="2414016"/>
            <a:ext cx="73152" cy="1188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487168"/>
            <a:ext cx="4005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reveals overfitting on DS2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64608" y="2743200"/>
            <a:ext cx="4005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R²=0.91 vs Val R²=0.39 on Dataset 2 shows a severe generalisation gap. Dataset 2 (500 rows, Corn-heavy, arid distribution) is too small and distribution-shifted relative to Dataset 1. This is scientifically expected and pedagogically valuable: it illustrates why domain-matched data matters for validation.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3712464"/>
            <a:ext cx="4261104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3712464"/>
            <a:ext cx="73152" cy="1188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" y="3785616"/>
            <a:ext cx="4005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improved RF by +10.96%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0624" y="4041648"/>
            <a:ext cx="4005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with 405 fits identified max_features=0.5 and n_estimators=300 as optimal. The most impactful parameter was max_features=0.5 (random half of features per split), which increases tree diversity and reduces variance. RMSE improved from 41.5 to 33.8 — a 19% reduction in prediction error magnitude.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0016" y="3712464"/>
            <a:ext cx="4261104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0016" y="3712464"/>
            <a:ext cx="73152" cy="11887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3785616"/>
            <a:ext cx="4005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agronomic interpretation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64608" y="4041648"/>
            <a:ext cx="4005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analysis confirms: rainfall and soil_moisture dominate water allocation prediction. Nitrogen_mgkg and phosphorus_mgkg drive their respective fertilizer targets. Growth stage (ordinal 0→4) is a cross-cutting predictor — flowering stage (2) consistently triggers higher allocation across all three targets.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Proposal — Part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2560320" cy="256032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7498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— RESEARCH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5175504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115568"/>
            <a:ext cx="5175504" cy="329184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115568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Overview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0624" y="1609344"/>
            <a:ext cx="45720" cy="201168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554480"/>
            <a:ext cx="269601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24906" y="1554480"/>
            <a:ext cx="19970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16736" y="1591056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/ Precision Farming — arid regions (Béchar, Algeria)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0624" y="2066544"/>
            <a:ext cx="45720" cy="201168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011680"/>
            <a:ext cx="269601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24906" y="2011680"/>
            <a:ext cx="19970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16736" y="2048256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prediction of water, N &amp; P allocation (multi-output)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0624" y="2523744"/>
            <a:ext cx="45720" cy="201168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468880"/>
            <a:ext cx="269601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24906" y="2468880"/>
            <a:ext cx="19970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16736" y="2505456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ML &amp; DL — regression on synthetic + GenAI dataset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0624" y="2980944"/>
            <a:ext cx="45720" cy="201168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2926080"/>
            <a:ext cx="269601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24906" y="2926080"/>
            <a:ext cx="19970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16736" y="2962656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2 040 rule-based + 500 GenAI-augmented samples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0624" y="3438144"/>
            <a:ext cx="45720" cy="201168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383280"/>
            <a:ext cx="269601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24906" y="3383280"/>
            <a:ext cx="19970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316736" y="3419856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→ PCA/LDA → RF, SVR, MLP → GridSearchCV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20624" y="3895344"/>
            <a:ext cx="45720" cy="201168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3840480"/>
            <a:ext cx="269601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24906" y="3840480"/>
            <a:ext cx="19970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316736" y="3877056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R², RMSE, MAE + K-Fold CV + residual analysis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20624" y="4352544"/>
            <a:ext cx="45720" cy="201168"/>
          </a:xfrm>
          <a:prstGeom prst="rect">
            <a:avLst/>
          </a:prstGeom>
          <a:solidFill>
            <a:srgbClr val="1F6FAE"/>
          </a:solidFill>
          <a:ln w="12700">
            <a:solidFill>
              <a:srgbClr val="1F6FA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4297680"/>
            <a:ext cx="269601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result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24906" y="4297680"/>
            <a:ext cx="19970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316736" y="4334256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RF: R²=0.70, RMSE=33.82 (+10.96% vs baseline)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614416" y="1115568"/>
            <a:ext cx="3273552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614416" y="1115568"/>
            <a:ext cx="3273552" cy="32918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05856" y="1115568"/>
            <a:ext cx="3145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References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724144" y="1609344"/>
            <a:ext cx="54864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52160" y="155448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Liakos et al. (2018)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852160" y="179222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in agriculture — Sensors 18(8):2674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724144" y="2322576"/>
            <a:ext cx="54864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52160" y="22677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 et al. (2021)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852160" y="250545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scheduling — J. Irrig. Drain. Eng.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724144" y="3035808"/>
            <a:ext cx="54864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52160" y="298094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Sharma et al. (2020)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852160" y="32186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 precision agriculture — IEEE Access 9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724144" y="3749040"/>
            <a:ext cx="54864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52160" y="369417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Klompenburg (2020)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852160" y="3931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prediction ML — Comp. Electron. Agric.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10896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969264"/>
            <a:ext cx="8631936" cy="804672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1F6F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69264"/>
            <a:ext cx="365760" cy="8046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69264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04241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Multi-output regression successfully validated: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allocation targets (water, N, P) predicted simultaneously. MLP achieved the best baseline R²=0.7476 on the held-out test set, confirming that joint architectures leverage inter-target biological correlations.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" y="1883664"/>
            <a:ext cx="8631936" cy="804672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1F6F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883664"/>
            <a:ext cx="365760" cy="8046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883664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195681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PCA retained 96.67% variance with 15 components: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1945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consensus features emerged as most predictive: rainfall, soil moisture, temperature, N level, P level, and growth stage. These align perfectly with agronomy domain knowledge.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2798064"/>
            <a:ext cx="8631936" cy="804672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1F6F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2798064"/>
            <a:ext cx="365760" cy="8046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2798064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287121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tuning improved RF by +10.96% (R²: 0.6329 → 0.7022, RMSE: 41.5 → 33.8):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1089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params: n_estimators=300, max_features=0.5, max_depth=None. The most impactful parameter was max_features=0.5, which increased tree diversity and reduced variance.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6032" y="3712464"/>
            <a:ext cx="8631936" cy="804672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1F6FA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3712464"/>
            <a:ext cx="365760" cy="8046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3712464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" y="378561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2 K-Fold revealed expected distribution shift (val R²=0.39):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0233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R²=0.91 vs Val R²=0.39 shows the GenAI-augmented dataset is distribution-shifted (Corn-heavy, arid). This pedagogically illustrates why domain-matched training data is critical for generalisation.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46451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901184"/>
            <a:ext cx="2816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Real IoT sensor data (field deployment)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73552" y="4901184"/>
            <a:ext cx="2816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LSTM for time-series irrigation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81344" y="4901184"/>
            <a:ext cx="2816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REST API for farmer decision support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2112</Words>
  <Application>Microsoft Office PowerPoint</Application>
  <PresentationFormat>Affichage à l'écran (16:9)</PresentationFormat>
  <Paragraphs>454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Optimal Resource Allocation in Precision Agriculture</dc:title>
  <dc:subject>PptxGenJS Presentation</dc:subject>
  <dc:creator>PptxGenJS</dc:creator>
  <cp:lastModifiedBy>HP</cp:lastModifiedBy>
  <cp:revision>8</cp:revision>
  <dcterms:created xsi:type="dcterms:W3CDTF">2026-03-31T23:30:48Z</dcterms:created>
  <dcterms:modified xsi:type="dcterms:W3CDTF">2026-04-01T08:00:18Z</dcterms:modified>
</cp:coreProperties>
</file>